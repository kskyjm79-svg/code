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9"/>
    <p:sldId id="259" r:id="rId10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원료 평균</c:v>
                </c:pt>
              </c:strCache>
            </c:strRef>
          </c:tx>
          <c:spPr>
            <a:solidFill>
              <a:srgbClr val="7B0F1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RMT547
(RI-100)</c:v>
                  </c:pt>
                  <c:pt idx="1">
                    <c:v>MR71KPB
(PPP-RN1)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109.9</c:v>
                </c:pt>
                <c:pt idx="1">
                  <c:v>27.7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이론값 (×비율)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RMT547
(RI-100)</c:v>
                  </c:pt>
                  <c:pt idx="1">
                    <c:v>MR71KPB
(PPP-RN1)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71.4</c:v>
                </c:pt>
                <c:pt idx="1">
                  <c:v>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완제품 실측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RMT547
(RI-100)</c:v>
                  </c:pt>
                  <c:pt idx="1">
                    <c:v>MR71KPB
(PPP-RN1)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58.9</c:v>
                </c:pt>
                <c:pt idx="1">
                  <c:v>17.9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개수 잔존율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RMT547
(65% Recipe)</c:v>
                  </c:pt>
                  <c:pt idx="1">
                    <c:v>MR71KPB
(76% Recipe)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점수 잔존율</c:v>
                </c:pt>
              </c:strCache>
            </c:strRef>
          </c:tx>
          <c:spPr>
            <a:solidFill>
              <a:srgbClr val="7B0F1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RMT547
(65% Recipe)</c:v>
                  </c:pt>
                  <c:pt idx="1">
                    <c:v>MR71KPB
(76% Recipe)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47</c:v>
                </c:pt>
                <c:pt idx="1">
                  <c:v>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기준 (100%)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RMT547
(65% Recipe)</c:v>
                  </c:pt>
                  <c:pt idx="1">
                    <c:v>MR71KPB
(76% Recipe)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RMT547 / RI-100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&lt;0.1mm</c:v>
                  </c:pt>
                  <c:pt idx="1">
                    <c:v>0.1~0.3mm</c:v>
                  </c:pt>
                  <c:pt idx="2">
                    <c:v>0.3~0.5mm</c:v>
                  </c:pt>
                  <c:pt idx="3">
                    <c:v>0.5~0.7mm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</c:v>
                </c:pt>
                <c:pt idx="1">
                  <c:v>119</c:v>
                </c:pt>
                <c:pt idx="2">
                  <c:v>36</c:v>
                </c:pt>
                <c:pt idx="3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MR71KPB / PPP-RN1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&lt;0.1mm</c:v>
                  </c:pt>
                  <c:pt idx="1">
                    <c:v>0.1~0.3mm</c:v>
                  </c:pt>
                  <c:pt idx="2">
                    <c:v>0.3~0.5mm</c:v>
                  </c:pt>
                  <c:pt idx="3">
                    <c:v>0.5~0.7mm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113</c:v>
                </c:pt>
                <c:pt idx="1">
                  <c:v>87</c:v>
                </c:pt>
                <c:pt idx="2">
                  <c:v>22</c:v>
                </c:pt>
                <c:pt idx="3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100% 기준선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&lt;0.1mm</c:v>
                  </c:pt>
                  <c:pt idx="1">
                    <c:v>0.1~0.3mm</c:v>
                  </c:pt>
                  <c:pt idx="2">
                    <c:v>0.3~0.5mm</c:v>
                  </c:pt>
                  <c:pt idx="3">
                    <c:v>0.5~0.7mm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0.5~0.7mm 이물 수</c:v>
                </c:pt>
              </c:strCache>
            </c:strRef>
          </c:tx>
          <c:dPt>
            <c:idx val="0"/>
            <c:spPr>
              <a:solidFill>
                <a:srgbClr val="E74C3C"/>
              </a:solidFill>
            </c:spPr>
          </c:dPt>
          <c:dPt>
            <c:idx val="1"/>
            <c:spPr>
              <a:solidFill>
                <a:srgbClr val="2980B9"/>
              </a:solidFill>
            </c:spPr>
          </c:dPt>
          <c:dPt>
            <c:idx val="2"/>
            <c:spPr>
              <a:solidFill>
                <a:srgbClr val="2980B9"/>
              </a:solidFill>
            </c:spPr>
          </c:dPt>
          <c:dPt>
            <c:idx val="3"/>
            <c:spPr>
              <a:solidFill>
                <a:srgbClr val="2980B9"/>
              </a:solidFill>
            </c:spPr>
          </c:dPt>
          <c:dPt>
            <c:idx val="4"/>
            <c:spPr>
              <a:solidFill>
                <a:srgbClr val="2980B9"/>
              </a:solidFill>
            </c:spPr>
          </c:dPt>
          <c:cat>
            <c:strRef>
              <c:f>Sheet1!$A$2:$A$6</c:f>
              <c:strCache>
                <c:ptCount val="5"/>
                <c:pt idx="0">
                  <c:v>263Q005H</c:v>
                </c:pt>
                <c:pt idx="1">
                  <c:v>263Q010H</c:v>
                </c:pt>
                <c:pt idx="2">
                  <c:v>264Q001H</c:v>
                </c:pt>
                <c:pt idx="3">
                  <c:v>264Q002H</c:v>
                </c:pt>
                <c:pt idx="4">
                  <c:v>264Q017H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5</c:v>
                </c:pt>
                <c:pt idx="2">
                  <c:v>17</c:v>
                </c:pt>
                <c:pt idx="3">
                  <c:v>8</c:v>
                </c:pt>
                <c:pt idx="4">
                  <c:v>15</c:v>
                </c:pt>
              </c:numCache>
            </c:numRef>
          </c:val>
        </c:ser>
        <c:dLbls>
          <c:numFmt formatCode="0&quot;개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&lt;0.1mm</c:v>
                </c:pt>
              </c:strCache>
            </c:strRef>
          </c:tx>
          <c:spPr>
            <a:solidFill>
              <a:srgbClr val="AED6F1"/>
            </a:solidFill>
          </c:spPr>
          <c:cat>
            <c:strRef>
              <c:f>Sheet1!$A$2:$A$6</c:f>
              <c:strCache>
                <c:ptCount val="5"/>
                <c:pt idx="0">
                  <c:v>263Q005H</c:v>
                </c:pt>
                <c:pt idx="1">
                  <c:v>263Q010H</c:v>
                </c:pt>
                <c:pt idx="2">
                  <c:v>264Q001H</c:v>
                </c:pt>
                <c:pt idx="3">
                  <c:v>264Q002H</c:v>
                </c:pt>
                <c:pt idx="4">
                  <c:v>264Q017H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31.263292216078263</c:v>
                </c:pt>
                <c:pt idx="1">
                  <c:v>29.1350531107739</c:v>
                </c:pt>
                <c:pt idx="2">
                  <c:v>25.377107364685003</c:v>
                </c:pt>
                <c:pt idx="3">
                  <c:v>28.163265306122447</c:v>
                </c:pt>
                <c:pt idx="4">
                  <c:v>26.37494981934966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0.1~0.3mm</c:v>
                </c:pt>
              </c:strCache>
            </c:strRef>
          </c:tx>
          <c:spPr>
            <a:solidFill>
              <a:srgbClr val="5DAEF8"/>
            </a:solidFill>
          </c:spPr>
          <c:cat>
            <c:strRef>
              <c:f>Sheet1!$A$2:$A$6</c:f>
              <c:strCache>
                <c:ptCount val="5"/>
                <c:pt idx="0">
                  <c:v>263Q005H</c:v>
                </c:pt>
                <c:pt idx="1">
                  <c:v>263Q010H</c:v>
                </c:pt>
                <c:pt idx="2">
                  <c:v>264Q001H</c:v>
                </c:pt>
                <c:pt idx="3">
                  <c:v>264Q002H</c:v>
                </c:pt>
                <c:pt idx="4">
                  <c:v>264Q017H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58.44321565291365</c:v>
                </c:pt>
                <c:pt idx="1">
                  <c:v>62.5948406676783</c:v>
                </c:pt>
                <c:pt idx="2">
                  <c:v>64.71458148476782</c:v>
                </c:pt>
                <c:pt idx="3">
                  <c:v>61.156462585034014</c:v>
                </c:pt>
                <c:pt idx="4">
                  <c:v>63.38819751103975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0.3~0.5mm</c:v>
                </c:pt>
              </c:strCache>
            </c:strRef>
          </c:tx>
          <c:spPr>
            <a:solidFill>
              <a:srgbClr val="F39C12"/>
            </a:solidFill>
          </c:spPr>
          <c:cat>
            <c:strRef>
              <c:f>Sheet1!$A$2:$A$6</c:f>
              <c:strCache>
                <c:ptCount val="5"/>
                <c:pt idx="0">
                  <c:v>263Q005H</c:v>
                </c:pt>
                <c:pt idx="1">
                  <c:v>263Q010H</c:v>
                </c:pt>
                <c:pt idx="2">
                  <c:v>264Q001H</c:v>
                </c:pt>
                <c:pt idx="3">
                  <c:v>264Q002H</c:v>
                </c:pt>
                <c:pt idx="4">
                  <c:v>264Q017H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9.485325393449596</c:v>
                </c:pt>
                <c:pt idx="1">
                  <c:v>7.890743550834597</c:v>
                </c:pt>
                <c:pt idx="2">
                  <c:v>9.40550133096717</c:v>
                </c:pt>
                <c:pt idx="3">
                  <c:v>10.136054421768707</c:v>
                </c:pt>
                <c:pt idx="4">
                  <c:v>9.634684865515856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0.5~0.7mm</c:v>
                </c:pt>
              </c:strCache>
            </c:strRef>
          </c:tx>
          <c:spPr>
            <a:solidFill>
              <a:srgbClr val="E74C3C"/>
            </a:solidFill>
          </c:spPr>
          <c:cat>
            <c:strRef>
              <c:f>Sheet1!$A$2:$A$6</c:f>
              <c:strCache>
                <c:ptCount val="5"/>
                <c:pt idx="0">
                  <c:v>263Q005H</c:v>
                </c:pt>
                <c:pt idx="1">
                  <c:v>263Q010H</c:v>
                </c:pt>
                <c:pt idx="2">
                  <c:v>264Q001H</c:v>
                </c:pt>
                <c:pt idx="3">
                  <c:v>264Q002H</c:v>
                </c:pt>
                <c:pt idx="4">
                  <c:v>264Q017H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0.8081667375584858</c:v>
                </c:pt>
                <c:pt idx="1">
                  <c:v>0.37936267071320184</c:v>
                </c:pt>
                <c:pt idx="2">
                  <c:v>0.5028098195800059</c:v>
                </c:pt>
                <c:pt idx="3">
                  <c:v>0.5442176870748299</c:v>
                </c:pt>
                <c:pt idx="4">
                  <c:v>0.602167804094741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0.5mm이상 비율(%)</c:v>
                </c:pt>
              </c:strCache>
            </c:strRef>
          </c:tx>
          <c:spPr>
            <a:ln w="31750">
              <a:solidFill>
                <a:srgbClr val="E74C3C"/>
              </a:solidFill>
            </a:ln>
          </c:spPr>
          <c:marker>
            <c:symbol val="circle"/>
            <c:size val="10"/>
            <c:spPr>
              <a:solidFill>
                <a:srgbClr val="E74C3C"/>
              </a:solidFill>
            </c:spPr>
          </c:marker>
          <c:cat>
            <c:strRef>
              <c:f>Sheet1!$A$2:$A$6</c:f>
              <c:strCache>
                <c:ptCount val="5"/>
                <c:pt idx="0">
                  <c:v>263Q005H</c:v>
                </c:pt>
                <c:pt idx="1">
                  <c:v>263Q010H</c:v>
                </c:pt>
                <c:pt idx="2">
                  <c:v>264Q001H</c:v>
                </c:pt>
                <c:pt idx="3">
                  <c:v>264Q002H</c:v>
                </c:pt>
                <c:pt idx="4">
                  <c:v>264Q017H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0.8081667375584858</c:v>
                </c:pt>
                <c:pt idx="1">
                  <c:v>0.37936267071320184</c:v>
                </c:pt>
                <c:pt idx="2">
                  <c:v>0.5028098195800059</c:v>
                </c:pt>
                <c:pt idx="3">
                  <c:v>0.5442176870748299</c:v>
                </c:pt>
                <c:pt idx="4">
                  <c:v>0.602167804094741</c:v>
                </c:pt>
              </c:numCache>
            </c:numRef>
          </c:val>
          <c:smooth val="0"/>
        </c:ser>
        <c:dLbls>
          <c:numFmt formatCode="0.00&quot;%&quot;" sourceLinked="0"/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이물점수(평균)</c:v>
                </c:pt>
              </c:strCache>
            </c:strRef>
          </c:tx>
          <c:dPt>
            <c:idx val="0"/>
            <c:spPr>
              <a:solidFill>
                <a:srgbClr val="E74C3C"/>
              </a:solidFill>
            </c:spPr>
          </c:dPt>
          <c:dPt>
            <c:idx val="1"/>
            <c:spPr>
              <a:solidFill>
                <a:srgbClr val="2980B9"/>
              </a:solidFill>
            </c:spPr>
          </c:dPt>
          <c:dPt>
            <c:idx val="2"/>
            <c:spPr>
              <a:solidFill>
                <a:srgbClr val="2980B9"/>
              </a:solidFill>
            </c:spPr>
          </c:dPt>
          <c:dPt>
            <c:idx val="3"/>
            <c:spPr>
              <a:solidFill>
                <a:srgbClr val="2980B9"/>
              </a:solidFill>
            </c:spPr>
          </c:dPt>
          <c:dPt>
            <c:idx val="4"/>
            <c:spPr>
              <a:solidFill>
                <a:srgbClr val="2980B9"/>
              </a:solidFill>
            </c:spPr>
          </c:dPt>
          <c:cat>
            <c:strRef>
              <c:f>Sheet1!$A$2:$A$6</c:f>
              <c:strCache>
                <c:ptCount val="5"/>
                <c:pt idx="0">
                  <c:v>263Q005H</c:v>
                </c:pt>
                <c:pt idx="1">
                  <c:v>263Q010H</c:v>
                </c:pt>
                <c:pt idx="2">
                  <c:v>264Q001H</c:v>
                </c:pt>
                <c:pt idx="3">
                  <c:v>264Q002H</c:v>
                </c:pt>
                <c:pt idx="4">
                  <c:v>264Q017H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32.7</c:v>
                </c:pt>
                <c:pt idx="1">
                  <c:v>68.7</c:v>
                </c:pt>
                <c:pt idx="2">
                  <c:v>52.5</c:v>
                </c:pt>
                <c:pt idx="3">
                  <c:v>47.9</c:v>
                </c:pt>
                <c:pt idx="4">
                  <c:v>55.1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이물 상관관계 종합 분석 — RMT547 &amp; MR71KPB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1/2  |  Recipe 기반 이물 전이 분석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966960" y="73152"/>
            <a:ext cx="210312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7315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5943600" cy="502920"/>
          </a:xfrm>
          <a:prstGeom prst="rect">
            <a:avLst/>
          </a:prstGeom>
          <a:solidFill>
            <a:srgbClr val="EAEE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685800"/>
            <a:ext cx="1371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6858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A  |  RMT547 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Recipe: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RI-100  65%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Talc 31% + Rubber 4%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685800"/>
            <a:ext cx="5806440" cy="502920"/>
          </a:xfrm>
          <a:prstGeom prst="rect">
            <a:avLst/>
          </a:prstGeom>
          <a:solidFill>
            <a:srgbClr val="FDF5EC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685800"/>
            <a:ext cx="13716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6858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B  |  MR71KPB 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Recipe: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PPP-RN1  76%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신재PP 17% + Talc 7%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" y="1325880"/>
            <a:ext cx="144018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1325880"/>
            <a:ext cx="14401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435608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RI-100 (원료)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" y="1618488"/>
            <a:ext cx="13487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109.9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28600" y="2112264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· 212.7점 · n=38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23060" y="1325880"/>
            <a:ext cx="144018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23060" y="1325880"/>
            <a:ext cx="14401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14500" y="1435608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이론값 ×65%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68780" y="1618488"/>
            <a:ext cx="13487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71.4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14500" y="2112264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· 138.2점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08960" y="1325880"/>
            <a:ext cx="144018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1325880"/>
            <a:ext cx="14401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1435608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RMT547 (실측)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54680" y="1618488"/>
            <a:ext cx="13487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58.9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00400" y="2112264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· 64.9점 · n=89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94860" y="1325880"/>
            <a:ext cx="144018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4860" y="1325880"/>
            <a:ext cx="1440180" cy="73152"/>
          </a:xfrm>
          <a:prstGeom prst="rect">
            <a:avLst/>
          </a:prstGeom>
          <a:solidFill>
            <a:srgbClr val="7B0F1A"/>
          </a:solidFill>
          <a:ln w="12700">
            <a:solidFill>
              <a:srgbClr val="7B0F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435608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 잔존율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40580" y="1618488"/>
            <a:ext cx="13487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0F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686300" y="2112264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잔존: 47%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63640" y="1325880"/>
            <a:ext cx="144018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1325880"/>
            <a:ext cx="144018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1435608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PPP-RN1 (원료)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1618488"/>
            <a:ext cx="13487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355080" y="2112264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· 32.5점 · n=30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749540" y="1325880"/>
            <a:ext cx="144018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49540" y="1325880"/>
            <a:ext cx="144018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40980" y="1435608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이론값 ×76%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95260" y="1618488"/>
            <a:ext cx="13487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21.0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840980" y="2112264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· 24.7점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235440" y="1325880"/>
            <a:ext cx="144018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35440" y="1325880"/>
            <a:ext cx="144018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0" y="1435608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MR71KPB (실측)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281160" y="1618488"/>
            <a:ext cx="13487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17.9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9326880" y="2112264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· 15.8점 · n=128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721340" y="1325880"/>
            <a:ext cx="144018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721340" y="1325880"/>
            <a:ext cx="1440180" cy="73152"/>
          </a:xfrm>
          <a:prstGeom prst="rect">
            <a:avLst/>
          </a:prstGeom>
          <a:solidFill>
            <a:srgbClr val="7B0F1A"/>
          </a:solidFill>
          <a:ln w="12700">
            <a:solidFill>
              <a:srgbClr val="7B0F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12780" y="1435608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 잔존율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67060" y="1618488"/>
            <a:ext cx="13487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0F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0812780" y="2112264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잔존: 64%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37160" y="2514600"/>
            <a:ext cx="59436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" y="25146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[그래프 1]  원료 → 이론값 → 실측 평균 개수 비교 (개)</a:t>
            </a:r>
            <a:endParaRPr lang="en-US" sz="1200" dirty="0"/>
          </a:p>
        </p:txBody>
      </p:sp>
      <p:graphicFrame>
        <p:nvGraphicFramePr>
          <p:cNvPr id="55" name="Chart 0" descr=""/>
          <p:cNvGraphicFramePr/>
          <p:nvPr/>
        </p:nvGraphicFramePr>
        <p:xfrm>
          <a:off x="137160" y="2880360"/>
          <a:ext cx="5943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6" name="Shape 53"/>
          <p:cNvSpPr/>
          <p:nvPr/>
        </p:nvSpPr>
        <p:spPr>
          <a:xfrm>
            <a:off x="6263640" y="2514600"/>
            <a:ext cx="58064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309360" y="2514600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[그래프 2]  종합 잔존율 비교 — 개수 vs 점수 (%)</a:t>
            </a:r>
            <a:endParaRPr lang="en-US" sz="1200" dirty="0"/>
          </a:p>
        </p:txBody>
      </p:sp>
      <p:graphicFrame>
        <p:nvGraphicFramePr>
          <p:cNvPr id="58" name="Chart 1" descr=""/>
          <p:cNvGraphicFramePr/>
          <p:nvPr/>
        </p:nvGraphicFramePr>
        <p:xfrm>
          <a:off x="6263640" y="2880360"/>
          <a:ext cx="58064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9" name="Shape 55"/>
          <p:cNvSpPr/>
          <p:nvPr/>
        </p:nvSpPr>
        <p:spPr>
          <a:xfrm>
            <a:off x="137160" y="5532120"/>
            <a:ext cx="11932920" cy="914400"/>
          </a:xfrm>
          <a:prstGeom prst="rect">
            <a:avLst/>
          </a:prstGeom>
          <a:solidFill>
            <a:srgbClr val="EAEEF7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37160" y="5532120"/>
            <a:ext cx="1371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365760" y="5577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핵심 발견  (Quality Insight)</a:t>
            </a:r>
            <a:endParaRPr lang="en-US" sz="1200" dirty="0"/>
          </a:p>
        </p:txBody>
      </p:sp>
      <p:sp>
        <p:nvSpPr>
          <p:cNvPr id="62" name="Text 58"/>
          <p:cNvSpPr/>
          <p:nvPr/>
        </p:nvSpPr>
        <p:spPr>
          <a:xfrm>
            <a:off x="365760" y="5852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개수 잔존율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RMT547 82% / MR71KPB 85% —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제품 모두 이론값 대비 양호 (Recipe 비율 부합)
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점수 잔존율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RMT547 47% / MR71KPB 64% —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B0F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점수가 더 큰 폭으로 감소 → 큰 SIZE 이물의 필터링 효과 우수
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Recipe 비율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높을수록 (76%) 점수 잔존율 ↑ —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원료 품질이 완제품에 더 직접 반영 →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PPP-RN1 원료 관리 중요도 ↑</a:t>
            </a:r>
            <a:endParaRPr lang="en-US" sz="1000" dirty="0"/>
          </a:p>
        </p:txBody>
      </p:sp>
      <p:sp>
        <p:nvSpPr>
          <p:cNvPr id="63" name="Text 59"/>
          <p:cNvSpPr/>
          <p:nvPr/>
        </p:nvSpPr>
        <p:spPr>
          <a:xfrm>
            <a:off x="137160" y="658368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작성자: 강석기  |  품질관리팀  |  이물 상관관계 종합 분석  |  발행 2026.05.20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SIZE별 잔존율 비교 + 종합 결론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2/2  |  Mesh 40 필터링 효과 분석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966960" y="73152"/>
            <a:ext cx="210312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7315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11932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1179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 잔존율 공식: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완제품 실측  ÷  (원료 평균 × Recipe 비율) × 100% 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100% 미만 = 공정 중 감소 (필터링) 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100% 초과 = 큰 이물 쪼개짐 (Mesh 40 효과)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" y="1280160"/>
            <a:ext cx="119329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280160"/>
            <a:ext cx="1188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[그래프 3]  SIZE별 잔존율 비교 (%)  —  100% 기준선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1645920"/>
          <a:ext cx="6858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7132320" y="1645920"/>
            <a:ext cx="49377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16459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SIZE별 해석 (공통 패턴)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32320" y="1938528"/>
            <a:ext cx="4937760" cy="640080"/>
          </a:xfrm>
          <a:prstGeom prst="rect">
            <a:avLst/>
          </a:prstGeom>
          <a:solidFill>
            <a:srgbClr val="F4F6FA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0" y="1938528"/>
            <a:ext cx="10972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0" y="198424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&lt;0.1mm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21040" y="1956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RMT547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87%  </a:t>
            </a:r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MR71KPB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113%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21040" y="22311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미세이물 — RMT547는 정상 전이 / MR71KPB는 쪼개짐 효과 ↑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32320" y="2578608"/>
            <a:ext cx="493776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0" y="2578608"/>
            <a:ext cx="10972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0" y="262432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0.1~0.3mm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21040" y="2596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RMT547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119%  </a:t>
            </a:r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MR71KPB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321040" y="2871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중간이물 — RMT547는 쪼개짐(Mesh 40) / MR71KPB는 정상 전이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132320" y="3218688"/>
            <a:ext cx="4937760" cy="640080"/>
          </a:xfrm>
          <a:prstGeom prst="rect">
            <a:avLst/>
          </a:prstGeom>
          <a:solidFill>
            <a:srgbClr val="F4F6FA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132320" y="3218688"/>
            <a:ext cx="109728" cy="6400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0" y="326440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0.3~0.5mm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21040" y="32369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RMT547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36%  </a:t>
            </a:r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MR71KPB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321040" y="35112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이물 — 두 제품 모두 컴파운딩 필터링 효과 (64~78% 제거)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132320" y="3858768"/>
            <a:ext cx="493776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32320" y="3858768"/>
            <a:ext cx="109728" cy="6400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0" y="39044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0.5~0.7mm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21040" y="3877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RMT547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9%  </a:t>
            </a:r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MR71KPB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321040" y="4151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이물 — 매우 강력한 필터링 효과 (83~91% 제거)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37160" y="5074920"/>
            <a:ext cx="119329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82880" y="5074920"/>
            <a:ext cx="1188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종합 결론 &amp; 권고 사항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37160" y="5440680"/>
            <a:ext cx="286893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37160" y="5440680"/>
            <a:ext cx="286893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28600" y="5440680"/>
            <a:ext cx="27317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이론 vs 실측 일치도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74320" y="5806440"/>
            <a:ext cx="268605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RMT547 82% / MR71KPB 85% — 두 제품 모두 Recipe 기반 이론값과 근접 → 상관관계 모델 신뢰성 입증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097530" y="5440680"/>
            <a:ext cx="286893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097530" y="5440680"/>
            <a:ext cx="2868930" cy="320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188970" y="5440680"/>
            <a:ext cx="27317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컴파운딩 필터링 효과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234690" y="5806440"/>
            <a:ext cx="268605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0.3mm↑ 이물 64~91% 제거 — 압출·필터링(Mesh 40)이 큰 이물 제거에 매우 효과적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057900" y="5440680"/>
            <a:ext cx="286893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57900" y="5440680"/>
            <a:ext cx="2868930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49340" y="5440680"/>
            <a:ext cx="27317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Mesh 40 쪼개짐 효과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195060" y="5806440"/>
            <a:ext cx="268605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RMT547 0.1~0.3mm 119% / MR71KPB &lt;0.1mm 113% — Mesh 40 통과 시 이물 SIZE 축소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018270" y="5440680"/>
            <a:ext cx="286893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018270" y="5440680"/>
            <a:ext cx="2868930" cy="320040"/>
          </a:xfrm>
          <a:prstGeom prst="rect">
            <a:avLst/>
          </a:prstGeom>
          <a:solidFill>
            <a:srgbClr val="7B0F1A"/>
          </a:solidFill>
          <a:ln w="12700">
            <a:solidFill>
              <a:srgbClr val="7B0F1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109710" y="5440680"/>
            <a:ext cx="27317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원료 관리 우선순위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9155430" y="5806440"/>
            <a:ext cx="268605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Recipe 비율 높을수록 원료 영향 ↑ → PPP-RN1(76%) &gt; RI-100(65%) 우선 관리 / 큰 이물 저감 집중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137160" y="6446520"/>
            <a:ext cx="1188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Source:  RMT547 89샘플 (5/13~14) / RI-100 38샘플 (4·5월)  |  MR71KPB 128샘플 (4/2~5/15) / PPP-RN1 30샘플 (4/9~5/8)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37160" y="658368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작성자: 강석기  |  품질관리팀  |  이물 상관관계 종합 분석  |  발행 2026.05.20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고객불만 LOT 분석 — RMT547 (263Q005H) vs 후속 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C3C7"/>
                </a:solidFill>
                <a:latin typeface="맑은 고딕"/>
              </a:defRPr>
            </a:pPr>
            <a:r>
              <a:t>Slide 3/4  |  LOT별 이물 SIZE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7315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Page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685800"/>
            <a:ext cx="1193292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85800"/>
            <a:ext cx="13716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00000"/>
            <a:ext cx="117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맑은 고딕"/>
              </a:defRPr>
            </a:pPr>
            <a:r>
              <a:t>고객불만 발생: LOT 263Q005H — 이물 SIZE 과대 (0.5mm 이상 이물 19개, 0.81%) | 후속 LOT 대비 최대 2배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1280160"/>
            <a:ext cx="1193292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2801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[표]  LOT별 이물 SIZE 분포 비교 — 263Q005H(고객불만) vs 후속 생산 LOT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" y="1645920"/>
          <a:ext cx="1193292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1200000"/>
                <a:gridCol w="1400000"/>
                <a:gridCol w="1400000"/>
                <a:gridCol w="1400000"/>
                <a:gridCol w="1200000"/>
                <a:gridCol w="1100000"/>
                <a:gridCol w="1200000"/>
                <a:gridCol w="143292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LOT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&lt;0.1mm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0.1~0.3mm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0.3~0.5mm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0.5~0.7mm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총 이물수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0.3mm↑ 비율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0.5mm↑ 비율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이물점수(평균)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★ 263Q005H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735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1,374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223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2,351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10.3%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0.81%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32.7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263Q010H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384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825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1,318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0.38%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68.7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264Q001H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858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2,188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318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3,381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9.9%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0.50%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52.5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264Q002H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414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899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1,470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0.54%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47.9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264Q017H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657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1,579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2,491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10.2%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0.60%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55.1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980B9"/>
                          </a:solidFill>
                          <a:latin typeface="맑은 고딕"/>
                        </a:defRPr>
                      </a:pPr>
                      <a:r>
                        <a:t>후속LOT 평균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980B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980B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980B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980B9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980B9"/>
                          </a:solidFill>
                          <a:latin typeface="맑은 고딕"/>
                        </a:defRPr>
                      </a:pPr>
                      <a:r>
                        <a:t>2,165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980B9"/>
                          </a:solidFill>
                          <a:latin typeface="맑은 고딕"/>
                        </a:defRPr>
                      </a:pPr>
                      <a:r>
                        <a:t>9.8%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980B9"/>
                          </a:solidFill>
                          <a:latin typeface="맑은 고딕"/>
                        </a:defRPr>
                      </a:pPr>
                      <a:r>
                        <a:t>0.51%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980B9"/>
                          </a:solidFill>
                          <a:latin typeface="맑은 고딕"/>
                        </a:defRPr>
                      </a:pPr>
                      <a:r>
                        <a:t>56.0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137160" y="3900000"/>
            <a:ext cx="5943600" cy="28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3900000"/>
            <a:ext cx="5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[그래프 3]  LOT별 0.5mm 이상 대형 이물 개수 비교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37160" y="4200000"/>
          <a:ext cx="5943600" cy="22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ectangle 14"/>
          <p:cNvSpPr/>
          <p:nvPr/>
        </p:nvSpPr>
        <p:spPr>
          <a:xfrm>
            <a:off x="6263640" y="3900000"/>
            <a:ext cx="5806440" cy="28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900000"/>
            <a:ext cx="57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[그래프 4]  LOT별 이물 SIZE 분포 비율 (%)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263640" y="4200000"/>
          <a:ext cx="5806440" cy="22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Rectangle 17"/>
          <p:cNvSpPr/>
          <p:nvPr/>
        </p:nvSpPr>
        <p:spPr>
          <a:xfrm>
            <a:off x="137160" y="6200000"/>
            <a:ext cx="11932920" cy="320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6200000"/>
            <a:ext cx="137160" cy="32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210000"/>
            <a:ext cx="11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  <a:latin typeface="맑은 고딕"/>
              </a:defRPr>
            </a:pPr>
            <a:r>
              <a:t>263Q005H는 0.5mm이상 이물 19개(0.81%)로 후속LOT 평균 11.3개(0.49%) 대비 1.7배 — 대형 이물 과다가 고객불만의 직접 원인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맑은 고딕"/>
              </a:defRPr>
            </a:pPr>
            <a:r>
              <a:t>작성자: 강석기  |  품질관리팀  |  RMT547 고객불만 LOT 비교 분석  |  발행 2026.05.20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후속 LOT 개선 효과 확인 및 관리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C3C7"/>
                </a:solidFill>
                <a:latin typeface="맑은 고딕"/>
              </a:defRPr>
            </a:pPr>
            <a:r>
              <a:t>Slide 4/4  |  개선 추이 및 권고사항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7315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Page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685800"/>
            <a:ext cx="11932920" cy="4572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685800"/>
            <a:ext cx="1371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00000"/>
            <a:ext cx="117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맑은 고딕"/>
              </a:defRPr>
            </a:pPr>
            <a:r>
              <a:t>개선 확인: 후속 LOT의 0.5mm이상 대형 이물 평균 11개 — 263Q005H(19개) 대비 41% 감소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1280160"/>
            <a:ext cx="2950000" cy="1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" y="1280160"/>
            <a:ext cx="2950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380160"/>
            <a:ext cx="2767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263Q010H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590160"/>
            <a:ext cx="276712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0.5mm이상: 5개 (0.38%)  [-74%]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77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0.3mm이상: 109개 (8.3%)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192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총 이물수: 1,318개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207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이물점수(평균): 68.7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240160"/>
            <a:ext cx="276712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→ 양호 (기준 이내)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2880" y="1280160"/>
            <a:ext cx="2950000" cy="1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32880" y="1280160"/>
            <a:ext cx="2950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24320" y="1380160"/>
            <a:ext cx="2767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264Q001H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4320" y="1590160"/>
            <a:ext cx="276712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0.5mm이상: 17개 (0.50%)  [-11%]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4320" y="177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0.3mm이상: 335개 (9.9%)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4320" y="192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총 이물수: 3,381개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4320" y="207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이물점수(평균): 52.5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24320" y="2240160"/>
            <a:ext cx="276712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→ 양호 (기준 이내)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8600" y="1280160"/>
            <a:ext cx="2950000" cy="1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8600" y="1280160"/>
            <a:ext cx="2950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0040" y="1380160"/>
            <a:ext cx="2767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264Q002H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0040" y="1590160"/>
            <a:ext cx="276712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0.5mm이상: 8개 (0.54%)  [-58%]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0040" y="177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0.3mm이상: 157개 (10.7%)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0040" y="192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총 이물수: 1,470개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0040" y="207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이물점수(평균): 47.9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0040" y="2240160"/>
            <a:ext cx="276712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→ 양호 (기준 이내)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24320" y="1280160"/>
            <a:ext cx="2950000" cy="1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24320" y="1280160"/>
            <a:ext cx="29500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15760" y="1380160"/>
            <a:ext cx="2767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264Q017H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5760" y="1590160"/>
            <a:ext cx="276712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0.5mm이상: 15개 (0.60%)  [-21%]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5760" y="177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0.3mm이상: 255개 (10.2%)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5760" y="192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총 이물수: 2,491개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5760" y="2070160"/>
            <a:ext cx="276712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이물점수(평균): 55.1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5760" y="2240160"/>
            <a:ext cx="276712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→ 양호 (기준 이내)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" y="2620000"/>
            <a:ext cx="5943600" cy="28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2620000"/>
            <a:ext cx="5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[그래프 5]  LOT별 0.5mm이상 이물 비율 추이 (%)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137160" y="2920000"/>
          <a:ext cx="59436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4" name="Rectangle 43"/>
          <p:cNvSpPr/>
          <p:nvPr/>
        </p:nvSpPr>
        <p:spPr>
          <a:xfrm>
            <a:off x="6263640" y="2620000"/>
            <a:ext cx="5806440" cy="28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620000"/>
            <a:ext cx="57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[그래프 6]  LOT별 이물점수(평균) 비교</a:t>
            </a: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6263640" y="2920000"/>
          <a:ext cx="5806440" cy="18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7" name="Rectangle 46"/>
          <p:cNvSpPr/>
          <p:nvPr/>
        </p:nvSpPr>
        <p:spPr>
          <a:xfrm>
            <a:off x="137160" y="4860000"/>
            <a:ext cx="1193292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48600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종합 결론 &amp; 관리 방안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" y="5230000"/>
            <a:ext cx="2910000" cy="1100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7160" y="5230000"/>
            <a:ext cx="2910000" cy="30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5240000"/>
            <a:ext cx="27271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불만 원인 분석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" y="5570000"/>
            <a:ext cx="272712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263Q005H의 0.5mm이상 이물 19개(0.81%)로 후속LOT 평균 대비 1.7배 과다 → 대형 이물이 고객불만의 직접 원인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98160" y="5230000"/>
            <a:ext cx="2910000" cy="11000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098160" y="5230000"/>
            <a:ext cx="2910000" cy="30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89600" y="5240000"/>
            <a:ext cx="27271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개선 효과 확인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89600" y="5570000"/>
            <a:ext cx="272712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후속 4개 LOT 모두 0.5mm이상 비율 감소 (0.38~0.60%) → 263Q010H에서 즉시 개선, 이후 안정적 유지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59160" y="5230000"/>
            <a:ext cx="2910000" cy="1100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59160" y="5230000"/>
            <a:ext cx="2910000" cy="30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50600" y="5240000"/>
            <a:ext cx="27271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관리 기준 제안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50600" y="5570000"/>
            <a:ext cx="272712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0.5mm이상 이물 비율 0.60% 이하 관리 목표 설정 권고 (후속LOT 최대치 기준)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20160" y="5230000"/>
            <a:ext cx="2910000" cy="11000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20160" y="5230000"/>
            <a:ext cx="2910000" cy="30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11600" y="5240000"/>
            <a:ext cx="27271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모니터링 강화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11600" y="5570000"/>
            <a:ext cx="272712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  <a:latin typeface="맑은 고딕"/>
              </a:defRPr>
            </a:pPr>
            <a:r>
              <a:t>0.3mm이상 이물 비율 10% 이내 유지 + 컴파운딩 Mesh 40 필터 정기 점검으로 대형 이물 유입 차단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" y="658368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맑은 고딕"/>
              </a:defRPr>
            </a:pPr>
            <a:r>
              <a:t>작성자: 강석기  |  품질관리팀  |  RMT547 고객불만 LOT 비교 분석  |  발행 2026.05.20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이물 상관관계 종합 분석 보고서</dc:title>
  <dc:subject>PptxGenJS Presentation</dc:subject>
  <dc:creator>PptxGenJS</dc:creator>
  <cp:lastModifiedBy>PptxGenJS</cp:lastModifiedBy>
  <cp:revision>1</cp:revision>
  <dcterms:created xsi:type="dcterms:W3CDTF">2026-05-20T05:20:34Z</dcterms:created>
  <dcterms:modified xsi:type="dcterms:W3CDTF">2026-05-20T05:20:34Z</dcterms:modified>
</cp:coreProperties>
</file>